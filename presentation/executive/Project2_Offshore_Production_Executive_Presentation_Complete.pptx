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5303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A699"/>
                </a:solidFill>
                <a:latin typeface="Aptos"/>
              </a:rPr>
              <a:t>OFFSHORE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77724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ASSET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5943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0">
                <a:solidFill>
                  <a:srgbClr val="B0BFCC"/>
                </a:solidFill>
                <a:latin typeface="Aptos"/>
              </a:rPr>
              <a:t>Executive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75895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0">
                <a:solidFill>
                  <a:srgbClr val="F8FAFC"/>
                </a:solidFill>
                <a:latin typeface="Aptos"/>
              </a:rPr>
              <a:t>Integrated production, reliability, downtime and intervention performance
for management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078992"/>
            <a:ext cx="2651760" cy="448056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70848" y="1536192"/>
            <a:ext cx="19659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2023–2026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0848" y="2395728"/>
            <a:ext cx="1965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900" b="1">
                <a:solidFill>
                  <a:srgbClr val="2DA699"/>
                </a:solidFill>
                <a:latin typeface="Aptos"/>
              </a:rPr>
              <a:t>32,250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2907792"/>
            <a:ext cx="1965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B0BFCC"/>
                </a:solidFill>
                <a:latin typeface="Aptos"/>
              </a:rPr>
              <a:t>producer-day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3657600"/>
            <a:ext cx="1965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900" b="1">
                <a:solidFill>
                  <a:srgbClr val="4299E1"/>
                </a:solidFill>
                <a:latin typeface="Aptos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4169663"/>
            <a:ext cx="1965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B0BFCC"/>
                </a:solidFill>
                <a:latin typeface="Aptos"/>
              </a:rPr>
              <a:t>producer wells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4572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PROJECT 2  |  EXECUTIVE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01  |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A multi-year view of production performance and operational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6984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The analytical model connects daily production with downtime, production impact and intervention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93392"/>
            <a:ext cx="2514600" cy="118872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993392"/>
            <a:ext cx="50292" cy="118872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85416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341.1 MMbbl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BASELINE OIL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993392"/>
            <a:ext cx="2514600" cy="118872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10128" y="1993392"/>
            <a:ext cx="50292" cy="118872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2185416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688336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PRODUCER WELLS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993392"/>
            <a:ext cx="2514600" cy="118872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25896" y="1993392"/>
            <a:ext cx="50292" cy="1188720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08776" y="2185416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32,250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688336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PRODUCER-DAY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41664" y="1993392"/>
            <a:ext cx="2514600" cy="118872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1664" y="1993392"/>
            <a:ext cx="50292" cy="118872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24544" y="2185416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2023–2026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2688336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ANALYSIS HORIZON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566160"/>
            <a:ext cx="3456432" cy="1938528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566160"/>
            <a:ext cx="3456432" cy="59436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858768"/>
            <a:ext cx="28346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A699"/>
                </a:solidFill>
                <a:latin typeface="Aptos"/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79392"/>
            <a:ext cx="315468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F8FAFC"/>
                </a:solidFill>
                <a:latin typeface="Aptos"/>
              </a:rPr>
              <a:t>A substantial multi-year production base supports trend, benchmark and well-level performance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566160"/>
            <a:ext cx="3456432" cy="1938528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3566160"/>
            <a:ext cx="3456432" cy="59436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3858768"/>
            <a:ext cx="28346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E6A83E"/>
                </a:solidFill>
                <a:latin typeface="Aptos"/>
              </a:rPr>
              <a:t>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265060"/>
            <a:ext cx="2985565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F8FAFC"/>
                </a:solidFill>
                <a:latin typeface="Aptos"/>
              </a:rPr>
              <a:t>Downtime is represented at event and production-impact levels, creating a direct operational exposure lens.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566160"/>
            <a:ext cx="3456432" cy="1938528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01000" y="3566160"/>
            <a:ext cx="3456432" cy="59436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3858768"/>
            <a:ext cx="28346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299E1"/>
                </a:solidFill>
                <a:latin typeface="Aptos"/>
              </a:rPr>
              <a:t>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279392"/>
            <a:ext cx="3026664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F8FAFC"/>
                </a:solidFill>
                <a:latin typeface="Aptos"/>
              </a:rPr>
              <a:t>Intervention data adds duration, cost and execution context to production-performance decisions.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97880"/>
            <a:ext cx="109270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EXECUTIVE MESSAGE  |  Protect production by managing reliability exposure and intervention decisions as one integrated operating system.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02  |  ASSET PRODUCTION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Production scale is the foundation for the reliability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32,250 producer-day observations across 24 wells establish the production-performance baseline for the 2023–2026 horizon.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7269480" cy="36118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B0BFCC"/>
                </a:solidFill>
                <a:latin typeface="Aptos"/>
              </a:rPr>
              <a:t>PRODUCTION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9192"/>
            <a:ext cx="31089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2DA699"/>
                </a:solidFill>
                <a:latin typeface="Aptos"/>
              </a:rPr>
              <a:t>341.1 MMbbl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3200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B0BFCC"/>
                </a:solidFill>
                <a:latin typeface="Aptos"/>
              </a:rPr>
              <a:t>Modeled baseline oil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B0BFCC"/>
                </a:solidFill>
                <a:latin typeface="Aptos"/>
              </a:rPr>
              <a:t>VALUE 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51960"/>
            <a:ext cx="1481328" cy="8229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39" y="4389120"/>
            <a:ext cx="2926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299E1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" y="4681728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  <a:latin typeface="Aptos"/>
              </a:rPr>
              <a:t>DAILY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32888" y="4251960"/>
            <a:ext cx="1481328" cy="8229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0048" y="4389120"/>
            <a:ext cx="2926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299E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4681728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  <a:latin typeface="Aptos"/>
              </a:rPr>
              <a:t>WELL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7096" y="4251960"/>
            <a:ext cx="1481328" cy="8229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4389120"/>
            <a:ext cx="2926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299E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4681728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  <a:latin typeface="Aptos"/>
              </a:rPr>
              <a:t>ASSET TREND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61304" y="4251960"/>
            <a:ext cx="1481328" cy="8229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98464" y="4389120"/>
            <a:ext cx="2926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299E1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4681728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  <a:latin typeface="Aptos"/>
              </a:rPr>
              <a:t>RELIABILITY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79" y="5108251"/>
            <a:ext cx="662665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B0BFCC"/>
                </a:solidFill>
                <a:latin typeface="Aptos"/>
              </a:rPr>
              <a:t>The production layer answers “what was produced?”; the following reliability analysis answers “where is production exposed?”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011680"/>
            <a:ext cx="3502152" cy="36118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2267712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MANAGEMENT 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761488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017520"/>
            <a:ext cx="2743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24 producer wells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419856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GRANULARITY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675888"/>
            <a:ext cx="2743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Daily producer-level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07822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334256"/>
            <a:ext cx="2743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2023–2026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736592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NEXT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992624"/>
            <a:ext cx="2743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Where does reliability create production exposure?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43600"/>
            <a:ext cx="10972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EXECUTIVE IMPLICATION  |  Production volume establishes the value at risk; reliability analysis identifies where that value is exposed.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943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03  |  PRODUCTION AVAILABILITY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Reliability converts production performance into operational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Availability, downtime and production-impact measures provide the bridge from output to reliability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2514600" cy="114300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0292" cy="1143000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660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60904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DOWNTIME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011680"/>
            <a:ext cx="2514600" cy="114300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10128" y="2011680"/>
            <a:ext cx="50292" cy="1143000"/>
          </a:xfrm>
          <a:prstGeom prst="rect">
            <a:avLst/>
          </a:prstGeom>
          <a:solidFill>
            <a:srgbClr val="C4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2194560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16,925.16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660904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DOWNTIME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2011680"/>
            <a:ext cx="2514600" cy="114300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25896" y="2011680"/>
            <a:ext cx="50292" cy="114300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08776" y="2194560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598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660904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PRODUCTION-AFFECTED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41664" y="2011680"/>
            <a:ext cx="2514600" cy="114300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1664" y="2011680"/>
            <a:ext cx="50292" cy="1143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24544" y="2194560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2660904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PRODUCER WELLS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74720"/>
            <a:ext cx="3456432" cy="196596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474720"/>
            <a:ext cx="3456432" cy="5486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749039"/>
            <a:ext cx="30540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148" y="4187952"/>
            <a:ext cx="325526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Production availability compares actual oil against potential oil at the daily production level.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474720"/>
            <a:ext cx="3456432" cy="196596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3474720"/>
            <a:ext cx="3456432" cy="54864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98848" y="3749039"/>
            <a:ext cx="30540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E6A83E"/>
                </a:solidFill>
                <a:latin typeface="Aptos"/>
              </a:rPr>
              <a:t>DOWNTIME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9079" y="4187952"/>
            <a:ext cx="316048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Event-level downtime provides the operational volume of lost runtime that requires management attention.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474720"/>
            <a:ext cx="3593592" cy="196596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01000" y="3474720"/>
            <a:ext cx="359359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2168" y="3749039"/>
            <a:ext cx="319125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299E1"/>
                </a:solidFill>
                <a:latin typeface="Aptos"/>
              </a:rPr>
              <a:t>PRODUCTION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4187952"/>
            <a:ext cx="337413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Daily production impact connects downtime exposure to production without assigning unsupported causality by failure category.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79592"/>
            <a:ext cx="10972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EXECUTIVE IMPLICATION  |  Reliability should be managed as a production-protection discipline, not only as a maintenance metric.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943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04  |  DOWNTIME &amp; FAILURE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Operational exposure is concentrated in identifiable failure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The event layer enables prioritization by frequency and downtime exposure while preserving analytical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6720840" cy="3749039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3657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TOP FAILURE / DOWNTIME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24912"/>
            <a:ext cx="2331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Unexpected Pressure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61488"/>
            <a:ext cx="2880360" cy="146304"/>
          </a:xfrm>
          <a:prstGeom prst="rect">
            <a:avLst/>
          </a:prstGeom>
          <a:solidFill>
            <a:srgbClr val="465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03320" y="2761488"/>
            <a:ext cx="2880360" cy="14630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2715768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  <a:latin typeface="Aptos"/>
              </a:rPr>
              <a:t>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18104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18104"/>
            <a:ext cx="2331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Formation Instability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154680"/>
            <a:ext cx="2880360" cy="146304"/>
          </a:xfrm>
          <a:prstGeom prst="rect">
            <a:avLst/>
          </a:prstGeom>
          <a:solidFill>
            <a:srgbClr val="465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03320" y="3154680"/>
            <a:ext cx="2601615" cy="14630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8272" y="3108960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  <a:latin typeface="Aptos"/>
              </a:rPr>
              <a:t>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11296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11296"/>
            <a:ext cx="2331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Differential Sticking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3547872"/>
            <a:ext cx="2880360" cy="146304"/>
          </a:xfrm>
          <a:prstGeom prst="rect">
            <a:avLst/>
          </a:prstGeom>
          <a:solidFill>
            <a:srgbClr val="465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703320" y="3547872"/>
            <a:ext cx="2322870" cy="14630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48272" y="3502152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  <a:latin typeface="Aptos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0448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04488"/>
            <a:ext cx="2331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Bit Wear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941064"/>
            <a:ext cx="2880360" cy="146304"/>
          </a:xfrm>
          <a:prstGeom prst="rect">
            <a:avLst/>
          </a:prstGeom>
          <a:solidFill>
            <a:srgbClr val="465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03320" y="3941064"/>
            <a:ext cx="2090583" cy="14630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3895344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  <a:latin typeface="Aptos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97680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297680"/>
            <a:ext cx="2331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Equipment Wear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4334256"/>
            <a:ext cx="2880360" cy="146304"/>
          </a:xfrm>
          <a:prstGeom prst="rect">
            <a:avLst/>
          </a:prstGeom>
          <a:solidFill>
            <a:srgbClr val="465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03320" y="4334256"/>
            <a:ext cx="2044126" cy="14630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8272" y="4288536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  <a:latin typeface="Aptos"/>
              </a:rPr>
              <a:t>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69087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690872"/>
            <a:ext cx="2331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Poor Preventive Maintenance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4727448"/>
            <a:ext cx="2880360" cy="146304"/>
          </a:xfrm>
          <a:prstGeom prst="rect">
            <a:avLst/>
          </a:prstGeom>
          <a:solidFill>
            <a:srgbClr val="465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03320" y="4727448"/>
            <a:ext cx="1765381" cy="14630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48272" y="4681728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  <a:latin typeface="Aptos"/>
              </a:rPr>
              <a:t>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084064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084064"/>
            <a:ext cx="2331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Electrical Failure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5120640"/>
            <a:ext cx="2880360" cy="146304"/>
          </a:xfrm>
          <a:prstGeom prst="rect">
            <a:avLst/>
          </a:prstGeom>
          <a:solidFill>
            <a:srgbClr val="465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703320" y="5120640"/>
            <a:ext cx="1718924" cy="14630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48272" y="5074920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  <a:latin typeface="Aptos"/>
              </a:rPr>
              <a:t>37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1965960"/>
            <a:ext cx="4050791" cy="3749039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20" y="2221992"/>
            <a:ext cx="3108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E6A83E"/>
                </a:solidFill>
                <a:latin typeface="Aptos"/>
              </a:rPr>
              <a:t>MANAGEMENT INTERPRETATION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761488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299E1"/>
                </a:solidFill>
                <a:latin typeface="Apto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8" y="2724912"/>
            <a:ext cx="310895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Prioritize recurring causes where frequency and operational consequence overlap.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584448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299E1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8" y="3552445"/>
            <a:ext cx="303472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Use event data to guide reliability actions and preventive-maintenance focus.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407408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299E1"/>
                </a:solidFill>
                <a:latin typeface="Apto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8" y="4370832"/>
            <a:ext cx="3034727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Do not infer category-level deferred production unless the causal linkage is explicitly modeled and validated.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5330952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DA699"/>
                </a:solidFill>
                <a:latin typeface="Aptos"/>
              </a:rPr>
              <a:t>QA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5321808"/>
            <a:ext cx="2331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B0BFCC"/>
                </a:solidFill>
                <a:latin typeface="Aptos"/>
              </a:rPr>
              <a:t>Preserved from the final analytical design.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943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05  |  INTERVENTION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Interventions add an execution and capital dimension to production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The intervention layer complements reliability analysis with duration, cost, type and expected operational objective.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93392"/>
            <a:ext cx="2514600" cy="114300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993392"/>
            <a:ext cx="50292" cy="114300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85416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60904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INTERVENTIONS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993392"/>
            <a:ext cx="2514600" cy="114300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10128" y="1993392"/>
            <a:ext cx="50292" cy="1143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2185416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660904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INTERVENTION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993392"/>
            <a:ext cx="2514600" cy="114300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25896" y="1993392"/>
            <a:ext cx="50292" cy="1143000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08776" y="2185416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660904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PRODUCER WELLS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41664" y="1993392"/>
            <a:ext cx="2514600" cy="114300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1664" y="1993392"/>
            <a:ext cx="50292" cy="114300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24544" y="2185416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20260928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2660904"/>
            <a:ext cx="2103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B0BFCC"/>
                </a:solidFill>
                <a:latin typeface="Aptos"/>
              </a:rPr>
              <a:t>EVENT SEED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93008"/>
            <a:ext cx="3456432" cy="89611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493008"/>
            <a:ext cx="3456432" cy="5486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767328"/>
            <a:ext cx="30540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Well Intervention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058659"/>
            <a:ext cx="3054096" cy="5486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72 </a:t>
            </a:r>
            <a:r>
              <a:rPr sz="1000" b="0" dirty="0" err="1">
                <a:solidFill>
                  <a:srgbClr val="F8FAFC"/>
                </a:solidFill>
                <a:latin typeface="Aptos"/>
              </a:rPr>
              <a:t>hr</a:t>
            </a:r>
            <a:r>
              <a:rPr sz="1000" b="0" dirty="0">
                <a:solidFill>
                  <a:srgbClr val="F8FAFC"/>
                </a:solidFill>
                <a:latin typeface="Aptos"/>
              </a:rPr>
              <a:t>  |  $1.5M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493008"/>
            <a:ext cx="3456432" cy="89611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3493008"/>
            <a:ext cx="345643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98848" y="3767328"/>
            <a:ext cx="30540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299E1"/>
                </a:solidFill>
                <a:latin typeface="Aptos"/>
              </a:rPr>
              <a:t>Workover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014216"/>
            <a:ext cx="3054096" cy="5486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240 </a:t>
            </a:r>
            <a:r>
              <a:rPr sz="1000" b="0" dirty="0" err="1">
                <a:solidFill>
                  <a:srgbClr val="F8FAFC"/>
                </a:solidFill>
                <a:latin typeface="Aptos"/>
              </a:rPr>
              <a:t>hr</a:t>
            </a:r>
            <a:r>
              <a:rPr sz="1000" b="0" dirty="0">
                <a:solidFill>
                  <a:srgbClr val="F8FAFC"/>
                </a:solidFill>
                <a:latin typeface="Aptos"/>
              </a:rPr>
              <a:t>  |  $5.0M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493008"/>
            <a:ext cx="3456432" cy="89611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01000" y="3493008"/>
            <a:ext cx="3456432" cy="54864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2168" y="3767328"/>
            <a:ext cx="30540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E6A83E"/>
                </a:solidFill>
                <a:latin typeface="Aptos"/>
              </a:rPr>
              <a:t>Artificial Lift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4011662"/>
            <a:ext cx="3054096" cy="5486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48 </a:t>
            </a:r>
            <a:r>
              <a:rPr sz="1000" b="0" dirty="0" err="1">
                <a:solidFill>
                  <a:srgbClr val="F8FAFC"/>
                </a:solidFill>
                <a:latin typeface="Aptos"/>
              </a:rPr>
              <a:t>hr</a:t>
            </a:r>
            <a:r>
              <a:rPr sz="1000" b="0" dirty="0">
                <a:solidFill>
                  <a:srgbClr val="F8FAFC"/>
                </a:solidFill>
                <a:latin typeface="Aptos"/>
              </a:rPr>
              <a:t>  |  $350k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572000"/>
            <a:ext cx="3456432" cy="89611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4572000"/>
            <a:ext cx="3456432" cy="5486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4846320"/>
            <a:ext cx="30540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Subsea Repair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120640"/>
            <a:ext cx="3054096" cy="5486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120 </a:t>
            </a:r>
            <a:r>
              <a:rPr sz="1000" b="0" dirty="0" err="1">
                <a:solidFill>
                  <a:srgbClr val="F8FAFC"/>
                </a:solidFill>
                <a:latin typeface="Aptos"/>
              </a:rPr>
              <a:t>hr</a:t>
            </a:r>
            <a:r>
              <a:rPr sz="1000" b="0" dirty="0">
                <a:solidFill>
                  <a:srgbClr val="F8FAFC"/>
                </a:solidFill>
                <a:latin typeface="Aptos"/>
              </a:rPr>
              <a:t>  |  $2.5M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0540" y="4572000"/>
            <a:ext cx="3456432" cy="89611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297680" y="4572000"/>
            <a:ext cx="345643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98848" y="4846320"/>
            <a:ext cx="30540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299E1"/>
                </a:solidFill>
                <a:latin typeface="Aptos"/>
              </a:rPr>
              <a:t>Flowline Remediation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1708" y="5116068"/>
            <a:ext cx="3054096" cy="5486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96 </a:t>
            </a:r>
            <a:r>
              <a:rPr sz="1000" b="0" dirty="0" err="1">
                <a:solidFill>
                  <a:srgbClr val="F8FAFC"/>
                </a:solidFill>
                <a:latin typeface="Aptos"/>
              </a:rPr>
              <a:t>hr</a:t>
            </a:r>
            <a:r>
              <a:rPr sz="1000" b="0" dirty="0">
                <a:solidFill>
                  <a:srgbClr val="F8FAFC"/>
                </a:solidFill>
                <a:latin typeface="Aptos"/>
              </a:rPr>
              <a:t>  |  $1.8M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23860" y="4590288"/>
            <a:ext cx="3456432" cy="89611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01000" y="4572000"/>
            <a:ext cx="3456432" cy="54864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02168" y="4846320"/>
            <a:ext cx="30540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E6A83E"/>
                </a:solidFill>
                <a:latin typeface="Aptos"/>
              </a:rPr>
              <a:t>Process Debottleneck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8" y="5088637"/>
            <a:ext cx="3054096" cy="5486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F8FAFC"/>
                </a:solidFill>
                <a:latin typeface="Aptos"/>
              </a:rPr>
              <a:t>168 </a:t>
            </a:r>
            <a:r>
              <a:rPr sz="1000" b="0" dirty="0" err="1">
                <a:solidFill>
                  <a:srgbClr val="F8FAFC"/>
                </a:solidFill>
                <a:latin typeface="Aptos"/>
              </a:rPr>
              <a:t>hr</a:t>
            </a:r>
            <a:r>
              <a:rPr sz="1000" b="0" dirty="0">
                <a:solidFill>
                  <a:srgbClr val="F8FAFC"/>
                </a:solidFill>
                <a:latin typeface="Aptos"/>
              </a:rPr>
              <a:t>  |  $3.0M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897880"/>
            <a:ext cx="10972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F8FAFC"/>
                </a:solidFill>
                <a:latin typeface="Aptos"/>
              </a:rPr>
              <a:t>EXECUTIVE IMPLICATION  |  Intervention prioritization should balance production opportunity, execution duration, operational risk and cost.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943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06  |  ECONOMIC &amp; PRODUCTION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Production impact is the business lens for reliability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The impact layer translates operational exposure into production and economic terms at the appropriate aggregation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93392"/>
            <a:ext cx="3657600" cy="36118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IMPACT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299E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2514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Potential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54096"/>
            <a:ext cx="251460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B0BFCC"/>
                </a:solidFill>
                <a:latin typeface="Aptos"/>
              </a:rPr>
              <a:t>What the asset could have produced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299E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29000"/>
            <a:ext cx="2514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Actual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94176"/>
            <a:ext cx="251460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B0BFCC"/>
                </a:solidFill>
                <a:latin typeface="Aptos"/>
              </a:rPr>
              <a:t>What was produced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299E1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69080"/>
            <a:ext cx="2514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Production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34256"/>
            <a:ext cx="2514600" cy="393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B0BFCC"/>
                </a:solidFill>
                <a:latin typeface="Aptos"/>
              </a:rPr>
              <a:t>The modeled gap at the daily production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299E1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709160"/>
            <a:ext cx="2514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Economic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59" y="4974336"/>
            <a:ext cx="264901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B0BFCC"/>
                </a:solidFill>
                <a:latin typeface="Aptos"/>
              </a:rPr>
              <a:t>The business value associated with the modeled production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1993392"/>
            <a:ext cx="7068312" cy="36118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2267712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E6A83E"/>
                </a:solidFill>
                <a:latin typeface="Aptos"/>
              </a:rPr>
              <a:t>DECISION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761488"/>
            <a:ext cx="5943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Use aggregated production impact for executive value-at-risk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429000"/>
            <a:ext cx="608076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B0BFCC"/>
                </a:solidFill>
                <a:latin typeface="Aptos"/>
              </a:rPr>
              <a:t>Keep failure-category analysis focused on observed events and downtime drivers unless a validated causal allocation model exists.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462272"/>
            <a:ext cx="5897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A699"/>
                </a:solidFill>
                <a:latin typeface="Aptos"/>
              </a:rPr>
              <a:t>This separation protects the integrity of the business story and prevents false precision.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5074920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299E1"/>
                </a:solidFill>
                <a:latin typeface="Aptos"/>
              </a:rPr>
              <a:t>QA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056632"/>
            <a:ext cx="5166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No unsupported deferred-production attribution by failure category.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943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07  |  MANAGEMENT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Four priorities convert analytics into an operating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The recommended actions are designed around production protection, reliability and disciplined intervention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587752" cy="333756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DA69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0574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F8FAFC"/>
                </a:solidFill>
                <a:latin typeface="Aptos"/>
              </a:rPr>
              <a:t>Protect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67328"/>
            <a:ext cx="212671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B0BFCC"/>
                </a:solidFill>
                <a:latin typeface="Aptos"/>
              </a:rPr>
              <a:t>Monitor availability and production impact at daily and well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103120"/>
            <a:ext cx="2587752" cy="333756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242316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6A83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4817" y="2926080"/>
            <a:ext cx="20574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F8FAFC"/>
                </a:solidFill>
                <a:latin typeface="Aptos"/>
              </a:rPr>
              <a:t>Attack recurring 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767328"/>
            <a:ext cx="2147758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Prioritize failure patterns where frequency and operational consequence are highest.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103120"/>
            <a:ext cx="2587752" cy="333756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242316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299E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5060" y="2926080"/>
            <a:ext cx="20574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F8FAFC"/>
                </a:solidFill>
                <a:latin typeface="Aptos"/>
              </a:rPr>
              <a:t>Optimize interventions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5060" y="3767328"/>
            <a:ext cx="213930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Balance duration, cost, expected recovery and operational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824" y="2103120"/>
            <a:ext cx="2587752" cy="333756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07424" y="242316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DA699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2926080"/>
            <a:ext cx="25054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8FAFC"/>
                </a:solidFill>
                <a:latin typeface="Aptos"/>
              </a:rPr>
              <a:t>Strengthen closed-loop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1643" y="3767328"/>
            <a:ext cx="2130847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B0BFCC"/>
                </a:solidFill>
                <a:latin typeface="Aptos"/>
              </a:rPr>
              <a:t>Maintain reconciliation between source data, SQL, Python and Power BI semantic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59" y="5897880"/>
            <a:ext cx="1110602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8FAFC"/>
                </a:solidFill>
                <a:latin typeface="Aptos"/>
              </a:rPr>
              <a:t>EXECUTIVE TAKEAWAY  |  The highest-value action is not a single maintenance intervention; it is a repeatable system for identifying, prioritizing and reducing production exposure.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943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08  |  TECHNICAL &amp; ANALYTICAL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A layered architecture supports reproducible executive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The solution separates generation, transformation, validation, relational storage and semantic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10469880" cy="6400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73152" cy="64008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176272"/>
            <a:ext cx="2377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DATA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76272"/>
            <a:ext cx="7132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Python production, downtime and intervention engines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61488"/>
            <a:ext cx="10469880" cy="6400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2761488"/>
            <a:ext cx="73152" cy="6400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926080"/>
            <a:ext cx="2377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DATA / SQL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7132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Structured tables, relationships and reconciliation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11296"/>
            <a:ext cx="10469880" cy="6400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511296"/>
            <a:ext cx="73152" cy="640080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675887"/>
            <a:ext cx="2377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75887"/>
            <a:ext cx="7132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Cross-layer QA and source-to-report reconciliation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261104"/>
            <a:ext cx="10469880" cy="6400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4261104"/>
            <a:ext cx="73152" cy="64008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425696"/>
            <a:ext cx="2377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SEMANTIC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425696"/>
            <a:ext cx="7132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Power BI relationships and production / reliability measures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10912"/>
            <a:ext cx="10469880" cy="640080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5010912"/>
            <a:ext cx="73152" cy="6400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5175504"/>
            <a:ext cx="2377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EXECUTIVE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75504"/>
            <a:ext cx="7132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Dashboard and presentation outputs for decision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Design principle  |  Each layer can be independently reconciled, making the final executive metrics auditable and reproducible.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943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09  |  QA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The analytical product is built around reconciliation, not visual plausibility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0BFCC"/>
                </a:solidFill>
                <a:latin typeface="Aptos"/>
              </a:rPr>
              <a:t>Quality controls span production, downtime, impact, intervention and Power BI semantic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0835640" cy="62179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73152" cy="621792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130552"/>
            <a:ext cx="8138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32,250 producer-day records; baseline production reconciled.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10835640" cy="62179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715768"/>
            <a:ext cx="73152" cy="621792"/>
          </a:xfrm>
          <a:prstGeom prst="rect">
            <a:avLst/>
          </a:prstGeom>
          <a:solidFill>
            <a:srgbClr val="E6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80360"/>
            <a:ext cx="8138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660 events; 16,925.16 downtime hours; 598 production-affected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65575"/>
            <a:ext cx="10835640" cy="62179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465575"/>
            <a:ext cx="73152" cy="62179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630168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630168"/>
            <a:ext cx="8138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39 generated interventions across six intervention types.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15383"/>
            <a:ext cx="10835640" cy="62179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215383"/>
            <a:ext cx="73152" cy="621792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379975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Semantic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379975"/>
            <a:ext cx="8138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Production, availability and downtime measures validated through QA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65192"/>
            <a:ext cx="10835640" cy="621792"/>
          </a:xfrm>
          <a:prstGeom prst="round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965192"/>
            <a:ext cx="73152" cy="621792"/>
          </a:xfrm>
          <a:prstGeom prst="rect">
            <a:avLst/>
          </a:prstGeom>
          <a:solidFill>
            <a:srgbClr val="C4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129783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Analytical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129783"/>
            <a:ext cx="8138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0BFCC"/>
                </a:solidFill>
                <a:latin typeface="Aptos"/>
              </a:rPr>
              <a:t>Failure-category deferred-production attribution intentionally excluded.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97880"/>
            <a:ext cx="108356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QA PRINCIPLE  |  If a number cannot be reconciled or causally supported, it does not belong in the executive narrative.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DA699"/>
                </a:solidFill>
                <a:latin typeface="Aptos"/>
              </a:rPr>
              <a:t>10  | 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68580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Executive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299E1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74519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Production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874519"/>
            <a:ext cx="7269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B0BFCC"/>
                </a:solidFill>
                <a:latin typeface="Aptos"/>
              </a:rPr>
              <a:t>The asset has a substantial modeled production base that warrants disciplined reliability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79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299E1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97479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Reliability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97479"/>
            <a:ext cx="7269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B0BFCC"/>
                </a:solidFill>
                <a:latin typeface="Aptos"/>
              </a:rPr>
              <a:t>Downtime and production-impact data make operational exposure visible at the appropriate level.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39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299E1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20439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Intervention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520439"/>
            <a:ext cx="7269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B0BFCC"/>
                </a:solidFill>
                <a:latin typeface="Aptos"/>
              </a:rPr>
              <a:t>Intervention decisions should balance production opportunity, execution duration, risk and cost.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299E1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43400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Analytical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343400"/>
            <a:ext cx="7269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B0BFCC"/>
                </a:solidFill>
                <a:latin typeface="Aptos"/>
              </a:rPr>
              <a:t>Reconciled data layers and explicit analytical boundaries protect the credibility of management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6400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A699"/>
                </a:solidFill>
                <a:latin typeface="Aptos"/>
              </a:rPr>
              <a:t>OFFSHORE PRODUCTION ASSET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26480"/>
            <a:ext cx="6400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From production data to executive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92240"/>
            <a:ext cx="4343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B0BFCC"/>
                </a:solidFill>
                <a:latin typeface="Aptos"/>
              </a:rPr>
              <a:t>OFFSHORE PRODUCTION ASSET PERFORMANCE  •  EXECUTIVE INTELLIGENCE  •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1192</Words>
  <Application>Microsoft Office PowerPoint</Application>
  <PresentationFormat>Widescreen</PresentationFormat>
  <Paragraphs>223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Anibal Ceballos</cp:lastModifiedBy>
  <cp:revision>3</cp:revision>
  <dcterms:created xsi:type="dcterms:W3CDTF">2013-01-27T09:14:16Z</dcterms:created>
  <dcterms:modified xsi:type="dcterms:W3CDTF">2026-10-06T17:21:28Z</dcterms:modified>
  <cp:category/>
</cp:coreProperties>
</file>