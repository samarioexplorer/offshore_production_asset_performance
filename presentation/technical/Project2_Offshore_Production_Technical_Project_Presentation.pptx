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914400"/>
            <a:ext cx="877824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F5F8FA"/>
                </a:solidFill>
                <a:latin typeface="Aptos"/>
              </a:rPr>
              <a:t>OFFSHORE PRODUCTION
ASSET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2606040"/>
            <a:ext cx="6858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BBFB0"/>
                </a:solidFill>
                <a:latin typeface="Aptos"/>
              </a:rPr>
              <a:t>Technical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AB8C4"/>
                </a:solidFill>
                <a:latin typeface="Aptos"/>
              </a:rPr>
              <a:t>Engineering architecture • synthetic data generation • reliability modeling
production impact • interventions • semantic analytics • QA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091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A"/>
                </a:solidFill>
                <a:latin typeface="Aptos"/>
              </a:rPr>
              <a:t>2023–2026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AB8C4"/>
                </a:solidFill>
                <a:latin typeface="Aptos"/>
              </a:rPr>
              <a:t>32,250 producer-day records  |  24 producer wells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143000"/>
            <a:ext cx="1325880" cy="713232"/>
          </a:xfrm>
          <a:prstGeom prst="roundRect">
            <a:avLst/>
          </a:prstGeom>
          <a:solidFill>
            <a:srgbClr val="18212B"/>
          </a:solidFill>
          <a:ln>
            <a:solidFill>
              <a:srgbClr val="418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325880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418FD6"/>
                </a:solidFill>
                <a:latin typeface="Aptos"/>
              </a:rPr>
              <a:t>PYTHON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21240" y="1143000"/>
            <a:ext cx="1325880" cy="713232"/>
          </a:xfrm>
          <a:prstGeom prst="roundRect">
            <a:avLst/>
          </a:prstGeom>
          <a:solidFill>
            <a:srgbClr val="18212B"/>
          </a:solidFill>
          <a:ln>
            <a:solidFill>
              <a:srgbClr val="2BB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21240" y="1325880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2BBFB0"/>
                </a:solidFill>
                <a:latin typeface="Aptos"/>
              </a:rPr>
              <a:t>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377440"/>
            <a:ext cx="1325880" cy="713232"/>
          </a:xfrm>
          <a:prstGeom prst="roundRect">
            <a:avLst/>
          </a:prstGeom>
          <a:solidFill>
            <a:srgbClr val="18212B"/>
          </a:solidFill>
          <a:ln>
            <a:solidFill>
              <a:srgbClr val="EBA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560320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EBAA41"/>
                </a:solidFill>
                <a:latin typeface="Aptos"/>
              </a:rPr>
              <a:t>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0" y="2377440"/>
            <a:ext cx="1325880" cy="713232"/>
          </a:xfrm>
          <a:prstGeom prst="roundRect">
            <a:avLst/>
          </a:prstGeom>
          <a:solidFill>
            <a:srgbClr val="18212B"/>
          </a:solidFill>
          <a:ln>
            <a:solidFill>
              <a:srgbClr val="5BB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21240" y="2560320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5BB577"/>
                </a:solidFill>
                <a:latin typeface="Aptos"/>
              </a:rPr>
              <a:t>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8FA"/>
                </a:solidFill>
                <a:latin typeface="Aptos"/>
              </a:rPr>
              <a:t>1. Technical 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713232" cy="50292"/>
          </a:xfrm>
          <a:prstGeom prst="rect">
            <a:avLst/>
          </a:prstGeom>
          <a:solidFill>
            <a:srgbClr val="2B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AB8C4"/>
                </a:solidFill>
                <a:latin typeface="Aptos"/>
              </a:rPr>
              <a:t>From synthetic operational data to governed production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3474720" cy="1828800"/>
          </a:xfrm>
          <a:prstGeom prst="roundRect">
            <a:avLst/>
          </a:prstGeom>
          <a:solidFill>
            <a:srgbClr val="18212B"/>
          </a:solidFill>
          <a:ln>
            <a:solidFill>
              <a:srgbClr val="3A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691640"/>
            <a:ext cx="64008" cy="1828800"/>
          </a:xfrm>
          <a:prstGeom prst="rect">
            <a:avLst/>
          </a:prstGeom>
          <a:solidFill>
            <a:srgbClr val="41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5623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Engineering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3063239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8C4"/>
                </a:solidFill>
                <a:latin typeface="Aptos"/>
              </a:rPr>
              <a:t>Model an offshore production asset at well, event, daily production, intervention, and equipment levels.
Controlled synthetic generation enables repeatability and traceability.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91640"/>
            <a:ext cx="3474720" cy="1828800"/>
          </a:xfrm>
          <a:prstGeom prst="roundRect">
            <a:avLst/>
          </a:prstGeom>
          <a:solidFill>
            <a:srgbClr val="18212B"/>
          </a:solidFill>
          <a:ln>
            <a:solidFill>
              <a:srgbClr val="3A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691640"/>
            <a:ext cx="64008" cy="1828800"/>
          </a:xfrm>
          <a:prstGeom prst="rect">
            <a:avLst/>
          </a:prstGeom>
          <a:solidFill>
            <a:srgbClr val="2B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5623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Analytical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86000"/>
            <a:ext cx="3063239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8C4"/>
                </a:solidFill>
                <a:latin typeface="Aptos"/>
              </a:rPr>
              <a:t>Measure production performance, availability, downtime, reliability drivers, production impact, and intervention exposure without overstating causality.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691640"/>
            <a:ext cx="3474720" cy="1828800"/>
          </a:xfrm>
          <a:prstGeom prst="roundRect">
            <a:avLst/>
          </a:prstGeom>
          <a:solidFill>
            <a:srgbClr val="18212B"/>
          </a:solidFill>
          <a:ln>
            <a:solidFill>
              <a:srgbClr val="3A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691640"/>
            <a:ext cx="64008" cy="1828800"/>
          </a:xfrm>
          <a:prstGeom prst="rect">
            <a:avLst/>
          </a:prstGeom>
          <a:solidFill>
            <a:srgbClr val="EB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85623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BI deliverable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86000"/>
            <a:ext cx="3063239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8C4"/>
                </a:solidFill>
                <a:latin typeface="Aptos"/>
              </a:rPr>
              <a:t>A Power BI semantic layer translates validated operational facts into management KPIs and decision-oriented views.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60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BFB0"/>
                </a:solidFill>
                <a:latin typeface="Aptos"/>
              </a:rPr>
              <a:t>Core design principle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53712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5F8FA"/>
                </a:solidFill>
                <a:latin typeface="Aptos"/>
              </a:rPr>
              <a:t>Every analytical claim is bounded by the grain, lineage, and validation status of the underlying data.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10424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AAB8C4"/>
                </a:solidFill>
                <a:latin typeface="Aptos"/>
              </a:rPr>
              <a:t>OFFSHORE PRODUCTION ASSET PERFORMANCE  |  TECHNICAL PROJECT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2BBFB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8FA"/>
                </a:solidFill>
                <a:latin typeface="Aptos"/>
              </a:rPr>
              <a:t>2. Solution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713232" cy="50292"/>
          </a:xfrm>
          <a:prstGeom prst="rect">
            <a:avLst/>
          </a:prstGeom>
          <a:solidFill>
            <a:srgbClr val="2B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AB8C4"/>
                </a:solidFill>
                <a:latin typeface="Aptos"/>
              </a:rPr>
              <a:t>Layered engineering pipeline with explicit validation gates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514600" cy="2057400"/>
          </a:xfrm>
          <a:prstGeom prst="roundRect">
            <a:avLst/>
          </a:prstGeom>
          <a:solidFill>
            <a:srgbClr val="18212B"/>
          </a:solidFill>
          <a:ln>
            <a:solidFill>
              <a:srgbClr val="3A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64008" cy="2057400"/>
          </a:xfrm>
          <a:prstGeom prst="rect">
            <a:avLst/>
          </a:prstGeom>
          <a:solidFill>
            <a:srgbClr val="41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9339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Python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2103120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8C4"/>
                </a:solidFill>
                <a:latin typeface="Aptos"/>
              </a:rPr>
              <a:t>Deterministic generators
Configuration + seeds
Controlled business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2888" y="1527048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418FD6"/>
                </a:solidFill>
                <a:latin typeface="Aptos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1828800"/>
            <a:ext cx="2514600" cy="2057400"/>
          </a:xfrm>
          <a:prstGeom prst="roundRect">
            <a:avLst/>
          </a:prstGeom>
          <a:solidFill>
            <a:srgbClr val="18212B"/>
          </a:solidFill>
          <a:ln>
            <a:solidFill>
              <a:srgbClr val="3A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47288" y="1828800"/>
            <a:ext cx="64008" cy="2057400"/>
          </a:xfrm>
          <a:prstGeom prst="rect">
            <a:avLst/>
          </a:prstGeom>
          <a:solidFill>
            <a:srgbClr val="2B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7" y="199339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Data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2423160"/>
            <a:ext cx="2103120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8C4"/>
                </a:solidFill>
                <a:latin typeface="Aptos"/>
              </a:rPr>
              <a:t>CSV fact/dimension outputs
Stable schemas
Operational grain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85816" y="1527048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2BBFB0"/>
                </a:solidFill>
                <a:latin typeface="Aptos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0216" y="1828800"/>
            <a:ext cx="2514600" cy="2057400"/>
          </a:xfrm>
          <a:prstGeom prst="roundRect">
            <a:avLst/>
          </a:prstGeom>
          <a:solidFill>
            <a:srgbClr val="18212B"/>
          </a:solidFill>
          <a:ln>
            <a:solidFill>
              <a:srgbClr val="3A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216" y="1828800"/>
            <a:ext cx="64008" cy="2057400"/>
          </a:xfrm>
          <a:prstGeom prst="rect">
            <a:avLst/>
          </a:prstGeom>
          <a:solidFill>
            <a:srgbClr val="EB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199339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SQL / Reconciliation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2423160"/>
            <a:ext cx="2103120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8C4"/>
                </a:solidFill>
                <a:latin typeface="Aptos"/>
              </a:rPr>
              <a:t>Cross-layer checks
Aggregations
Row/volume controls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1527048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EBAA41"/>
                </a:solidFill>
                <a:latin typeface="Aptos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53144" y="1828800"/>
            <a:ext cx="2514600" cy="2057400"/>
          </a:xfrm>
          <a:prstGeom prst="roundRect">
            <a:avLst/>
          </a:prstGeom>
          <a:solidFill>
            <a:srgbClr val="18212B"/>
          </a:solidFill>
          <a:ln>
            <a:solidFill>
              <a:srgbClr val="3A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53144" y="1828800"/>
            <a:ext cx="64008" cy="2057400"/>
          </a:xfrm>
          <a:prstGeom prst="rect">
            <a:avLst/>
          </a:prstGeom>
          <a:solidFill>
            <a:srgbClr val="5BB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81744" y="199339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Power BI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81744" y="2423160"/>
            <a:ext cx="2103120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8C4"/>
                </a:solidFill>
                <a:latin typeface="Aptos"/>
              </a:rPr>
              <a:t>Semantic model
DAX measures
Executive + technical views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1672" y="1527048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5BB577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2487168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AAB8C4"/>
                </a:solidFill>
                <a:latin typeface="Aptos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07608" y="2487168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AAB8C4"/>
                </a:solidFill>
                <a:latin typeface="Aptos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0536" y="2487168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AAB8C4"/>
                </a:solidFill>
                <a:latin typeface="Aptos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6177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5F8FA"/>
                </a:solidFill>
                <a:latin typeface="Aptos"/>
              </a:rPr>
              <a:t>Validation is not a final step; it is a control layer between engineering outputs and analytical consumption.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10424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AAB8C4"/>
                </a:solidFill>
                <a:latin typeface="Aptos"/>
              </a:rPr>
              <a:t>OFFSHORE PRODUCTION ASSET PERFORMANCE  |  TECHNICAL PROJECT PRESENTATION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2BBFB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8FA"/>
                </a:solidFill>
                <a:latin typeface="Aptos"/>
              </a:rPr>
              <a:t>3. Data Model &amp; Entity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713232" cy="50292"/>
          </a:xfrm>
          <a:prstGeom prst="rect">
            <a:avLst/>
          </a:prstGeom>
          <a:solidFill>
            <a:srgbClr val="2B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AB8C4"/>
                </a:solidFill>
                <a:latin typeface="Aptos"/>
              </a:rPr>
              <a:t>Fact tables preserve operational events; dimensions provide controlled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5257800" cy="1572768"/>
          </a:xfrm>
          <a:prstGeom prst="roundRect">
            <a:avLst/>
          </a:prstGeom>
          <a:solidFill>
            <a:srgbClr val="18212B"/>
          </a:solidFill>
          <a:ln>
            <a:solidFill>
              <a:srgbClr val="3A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600200"/>
            <a:ext cx="64008" cy="1572768"/>
          </a:xfrm>
          <a:prstGeom prst="rect">
            <a:avLst/>
          </a:prstGeom>
          <a:solidFill>
            <a:srgbClr val="41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6479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Fact_Production_Daily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4846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4"/>
                </a:solidFill>
                <a:latin typeface="Aptos"/>
              </a:rPr>
              <a:t>Daily well production
32,250 rows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5257800" cy="1572768"/>
          </a:xfrm>
          <a:prstGeom prst="roundRect">
            <a:avLst/>
          </a:prstGeom>
          <a:solidFill>
            <a:srgbClr val="18212B"/>
          </a:solidFill>
          <a:ln>
            <a:solidFill>
              <a:srgbClr val="3A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00200"/>
            <a:ext cx="64008" cy="1572768"/>
          </a:xfrm>
          <a:prstGeom prst="rect">
            <a:avLst/>
          </a:prstGeom>
          <a:solidFill>
            <a:srgbClr val="2B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Fact_Downtime_Event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94560"/>
            <a:ext cx="4846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4"/>
                </a:solidFill>
                <a:latin typeface="Aptos"/>
              </a:rPr>
              <a:t>Event-level downtime
660 events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566160"/>
            <a:ext cx="5257800" cy="1572768"/>
          </a:xfrm>
          <a:prstGeom prst="roundRect">
            <a:avLst/>
          </a:prstGeom>
          <a:solidFill>
            <a:srgbClr val="18212B"/>
          </a:solidFill>
          <a:ln>
            <a:solidFill>
              <a:srgbClr val="3A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3566160"/>
            <a:ext cx="64008" cy="1572768"/>
          </a:xfrm>
          <a:prstGeom prst="rect">
            <a:avLst/>
          </a:prstGeom>
          <a:solidFill>
            <a:srgbClr val="EB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3075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Fact_Production_Impact_Daily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60520"/>
            <a:ext cx="4846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4"/>
                </a:solidFill>
                <a:latin typeface="Aptos"/>
              </a:rPr>
              <a:t>Daily impact bridge
Potential / Actual / Impact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566160"/>
            <a:ext cx="5257800" cy="1572768"/>
          </a:xfrm>
          <a:prstGeom prst="roundRect">
            <a:avLst/>
          </a:prstGeom>
          <a:solidFill>
            <a:srgbClr val="18212B"/>
          </a:solidFill>
          <a:ln>
            <a:solidFill>
              <a:srgbClr val="3A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566160"/>
            <a:ext cx="64008" cy="1572768"/>
          </a:xfrm>
          <a:prstGeom prst="rect">
            <a:avLst/>
          </a:prstGeom>
          <a:solidFill>
            <a:srgbClr val="5BB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73075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Fact_Intervention_Event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160520"/>
            <a:ext cx="4846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4"/>
                </a:solidFill>
                <a:latin typeface="Aptos"/>
              </a:rPr>
              <a:t>Intervention portfolio
39 events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5321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BBFB0"/>
                </a:solidFill>
                <a:latin typeface="Aptos"/>
              </a:rPr>
              <a:t>Dimensions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5532120"/>
            <a:ext cx="9326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A"/>
                </a:solidFill>
                <a:latin typeface="Aptos"/>
              </a:rPr>
              <a:t>Dim_Date   •   Dim_Well   •   Dim_Equipment   •   Dim_Intervention_Type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10424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AAB8C4"/>
                </a:solidFill>
                <a:latin typeface="Aptos"/>
              </a:rPr>
              <a:t>OFFSHORE PRODUCTION ASSET PERFORMANCE  |  TECHNICAL PROJECT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2BBFB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8FA"/>
                </a:solidFill>
                <a:latin typeface="Aptos"/>
              </a:rPr>
              <a:t>4. Production Engineering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713232" cy="50292"/>
          </a:xfrm>
          <a:prstGeom prst="rect">
            <a:avLst/>
          </a:prstGeom>
          <a:solidFill>
            <a:srgbClr val="2B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AB8C4"/>
                </a:solidFill>
                <a:latin typeface="Aptos"/>
              </a:rPr>
              <a:t>Daily well-level production generation with explicit physical and data-quality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418FD6"/>
                </a:solidFill>
                <a:latin typeface="Aptos"/>
              </a:rPr>
              <a:t>32,250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93976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AB8C4"/>
                </a:solidFill>
                <a:latin typeface="Aptos"/>
              </a:rPr>
              <a:t>producer-day rows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60020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BBFB0"/>
                </a:solidFill>
                <a:latin typeface="Aptos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2093976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AB8C4"/>
                </a:solidFill>
                <a:latin typeface="Aptos"/>
              </a:rPr>
              <a:t>producer wells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160020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BAA41"/>
                </a:solidFill>
                <a:latin typeface="Aptos"/>
              </a:rPr>
              <a:t>341.1 MMbbl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2093976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AB8C4"/>
                </a:solidFill>
                <a:latin typeface="Aptos"/>
              </a:rPr>
              <a:t>baseline oil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60020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5BB577"/>
                </a:solidFill>
                <a:latin typeface="Aptos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093976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AB8C4"/>
                </a:solidFill>
                <a:latin typeface="Aptos"/>
              </a:rPr>
              <a:t>duplicate well-days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788920"/>
            <a:ext cx="5257800" cy="2331720"/>
          </a:xfrm>
          <a:prstGeom prst="roundRect">
            <a:avLst/>
          </a:prstGeom>
          <a:solidFill>
            <a:srgbClr val="18212B"/>
          </a:solidFill>
          <a:ln>
            <a:solidFill>
              <a:srgbClr val="3A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788920"/>
            <a:ext cx="64008" cy="2331720"/>
          </a:xfrm>
          <a:prstGeom prst="rect">
            <a:avLst/>
          </a:prstGeom>
          <a:solidFill>
            <a:srgbClr val="41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95351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Generation controls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83279"/>
            <a:ext cx="4846320" cy="1581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4"/>
                </a:solidFill>
                <a:latin typeface="Aptos"/>
              </a:rPr>
              <a:t>• Deterministic configuration and seed
• Well-level production behavior
• Runtime / availability constraints
• Potential and actual production fields
• Stable daily grain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788920"/>
            <a:ext cx="5257800" cy="2331720"/>
          </a:xfrm>
          <a:prstGeom prst="roundRect">
            <a:avLst/>
          </a:prstGeom>
          <a:solidFill>
            <a:srgbClr val="18212B"/>
          </a:solidFill>
          <a:ln>
            <a:solidFill>
              <a:srgbClr val="3A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2788920"/>
            <a:ext cx="64008" cy="2331720"/>
          </a:xfrm>
          <a:prstGeom prst="rect">
            <a:avLst/>
          </a:prstGeom>
          <a:solidFill>
            <a:srgbClr val="5BB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95351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Validation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383279"/>
            <a:ext cx="4846320" cy="1581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4"/>
                </a:solidFill>
                <a:latin typeface="Aptos"/>
              </a:rPr>
              <a:t>• Potential Oil ≥ Actual Oil
• Runtime ≤ Available Hours
• Runtime &gt; 0
• No negative production
• No null critical fields
• Duplicate well-days =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10424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AAB8C4"/>
                </a:solidFill>
                <a:latin typeface="Aptos"/>
              </a:rPr>
              <a:t>OFFSHORE PRODUCTION ASSET PERFORMANCE  |  TECHNICAL PROJECT 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2BBFB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8FA"/>
                </a:solidFill>
                <a:latin typeface="Aptos"/>
              </a:rPr>
              <a:t>5. Downtime &amp; Reliability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713232" cy="50292"/>
          </a:xfrm>
          <a:prstGeom prst="rect">
            <a:avLst/>
          </a:prstGeom>
          <a:solidFill>
            <a:srgbClr val="2B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AB8C4"/>
                </a:solidFill>
                <a:latin typeface="Aptos"/>
              </a:rPr>
              <a:t>Event-level reliability modeling with deterministic reproducibility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418FD6"/>
                </a:solidFill>
                <a:latin typeface="Aptos"/>
              </a:rPr>
              <a:t>660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93976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AB8C4"/>
                </a:solidFill>
                <a:latin typeface="Aptos"/>
              </a:rPr>
              <a:t>downtime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60020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BBFB0"/>
                </a:solidFill>
                <a:latin typeface="Aptos"/>
              </a:rPr>
              <a:t>16,925.16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093976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AB8C4"/>
                </a:solidFill>
                <a:latin typeface="Aptos"/>
              </a:rPr>
              <a:t>downtime hours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60020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BAA41"/>
                </a:solidFill>
                <a:latin typeface="Aptos"/>
              </a:rPr>
              <a:t>598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093976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AB8C4"/>
                </a:solidFill>
                <a:latin typeface="Aptos"/>
              </a:rPr>
              <a:t>production-affected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160020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5BB577"/>
                </a:solidFill>
                <a:latin typeface="Aptos"/>
              </a:rPr>
              <a:t>20260928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2093976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AB8C4"/>
                </a:solidFill>
                <a:latin typeface="Aptos"/>
              </a:rPr>
              <a:t>random seed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788920"/>
            <a:ext cx="3429000" cy="2423160"/>
          </a:xfrm>
          <a:prstGeom prst="roundRect">
            <a:avLst/>
          </a:prstGeom>
          <a:solidFill>
            <a:srgbClr val="18212B"/>
          </a:solidFill>
          <a:ln>
            <a:solidFill>
              <a:srgbClr val="3A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788920"/>
            <a:ext cx="64008" cy="2423160"/>
          </a:xfrm>
          <a:prstGeom prst="rect">
            <a:avLst/>
          </a:prstGeom>
          <a:solidFill>
            <a:srgbClr val="41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95351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Event construction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83279"/>
            <a:ext cx="3017520" cy="1673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8C4"/>
                </a:solidFill>
                <a:latin typeface="Aptos"/>
              </a:rPr>
              <a:t>Controlled event-duration ranges, event categories, affected wells/equipment, and production-impact flags create a realistic reliability layer.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2788920"/>
            <a:ext cx="3429000" cy="2423160"/>
          </a:xfrm>
          <a:prstGeom prst="roundRect">
            <a:avLst/>
          </a:prstGeom>
          <a:solidFill>
            <a:srgbClr val="18212B"/>
          </a:solidFill>
          <a:ln>
            <a:solidFill>
              <a:srgbClr val="3A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70832" y="2788920"/>
            <a:ext cx="64008" cy="2423160"/>
          </a:xfrm>
          <a:prstGeom prst="rect">
            <a:avLst/>
          </a:prstGeom>
          <a:solidFill>
            <a:srgbClr val="2B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9432" y="295351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Daily bridge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2" y="3383279"/>
            <a:ext cx="3017520" cy="1673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8C4"/>
                </a:solidFill>
                <a:latin typeface="Aptos"/>
              </a:rPr>
              <a:t>Event-level downtime is translated into daily operational impact while preserving the distinction between event occurrence and production attribution.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788920"/>
            <a:ext cx="3383280" cy="2423160"/>
          </a:xfrm>
          <a:prstGeom prst="roundRect">
            <a:avLst/>
          </a:prstGeom>
          <a:solidFill>
            <a:srgbClr val="18212B"/>
          </a:solidFill>
          <a:ln>
            <a:solidFill>
              <a:srgbClr val="3A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2788920"/>
            <a:ext cx="64008" cy="2423160"/>
          </a:xfrm>
          <a:prstGeom prst="rect">
            <a:avLst/>
          </a:prstGeom>
          <a:solidFill>
            <a:srgbClr val="EB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95351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Analytical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383279"/>
            <a:ext cx="2971800" cy="1673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8C4"/>
                </a:solidFill>
                <a:latin typeface="Aptos"/>
              </a:rPr>
              <a:t>Failure categories are not used to claim category-level deferred-production causality without a validated causal model.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10424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AAB8C4"/>
                </a:solidFill>
                <a:latin typeface="Aptos"/>
              </a:rPr>
              <a:t>OFFSHORE PRODUCTION ASSET PERFORMANCE  |  TECHNICAL PROJECT PRESENTATION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2BBFB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8FA"/>
                </a:solidFill>
                <a:latin typeface="Aptos"/>
              </a:rPr>
              <a:t>6. Production Impact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713232" cy="50292"/>
          </a:xfrm>
          <a:prstGeom prst="rect">
            <a:avLst/>
          </a:prstGeom>
          <a:solidFill>
            <a:srgbClr val="2B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AB8C4"/>
                </a:solidFill>
                <a:latin typeface="Aptos"/>
              </a:rPr>
              <a:t>Separating measured production from modeled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514600" cy="1920240"/>
          </a:xfrm>
          <a:prstGeom prst="roundRect">
            <a:avLst/>
          </a:prstGeom>
          <a:solidFill>
            <a:srgbClr val="18212B"/>
          </a:solidFill>
          <a:ln>
            <a:solidFill>
              <a:srgbClr val="3A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64008" cy="1920240"/>
          </a:xfrm>
          <a:prstGeom prst="rect">
            <a:avLst/>
          </a:prstGeom>
          <a:solidFill>
            <a:srgbClr val="41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Potential Oil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2103120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AAB8C4"/>
                </a:solidFill>
                <a:latin typeface="Aptos"/>
              </a:rPr>
              <a:t>Theoretical / available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6392" y="2487168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AAB8C4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828800"/>
            <a:ext cx="2514600" cy="1920240"/>
          </a:xfrm>
          <a:prstGeom prst="roundRect">
            <a:avLst/>
          </a:prstGeom>
          <a:solidFill>
            <a:srgbClr val="18212B"/>
          </a:solidFill>
          <a:ln>
            <a:solidFill>
              <a:srgbClr val="3A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828800"/>
            <a:ext cx="64008" cy="1920240"/>
          </a:xfrm>
          <a:prstGeom prst="rect">
            <a:avLst/>
          </a:prstGeom>
          <a:solidFill>
            <a:srgbClr val="2B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199339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Actual Oil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423160"/>
            <a:ext cx="2103120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AAB8C4"/>
                </a:solidFill>
                <a:latin typeface="Aptos"/>
              </a:rPr>
              <a:t>Recorded production 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1032" y="2487168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AAB8C4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828800"/>
            <a:ext cx="2514600" cy="1920240"/>
          </a:xfrm>
          <a:prstGeom prst="roundRect">
            <a:avLst/>
          </a:prstGeom>
          <a:solidFill>
            <a:srgbClr val="18212B"/>
          </a:solidFill>
          <a:ln>
            <a:solidFill>
              <a:srgbClr val="3A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828800"/>
            <a:ext cx="64008" cy="1920240"/>
          </a:xfrm>
          <a:prstGeom prst="rect">
            <a:avLst/>
          </a:prstGeom>
          <a:solidFill>
            <a:srgbClr val="EB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99339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Production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423160"/>
            <a:ext cx="2103120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AAB8C4"/>
                </a:solidFill>
                <a:latin typeface="Aptos"/>
              </a:rPr>
              <a:t>Modeled bridge / operational loss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5672" y="2487168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AAB8C4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1828800"/>
            <a:ext cx="2514600" cy="1920240"/>
          </a:xfrm>
          <a:prstGeom prst="roundRect">
            <a:avLst/>
          </a:prstGeom>
          <a:solidFill>
            <a:srgbClr val="18212B"/>
          </a:solidFill>
          <a:ln>
            <a:solidFill>
              <a:srgbClr val="3A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1828800"/>
            <a:ext cx="64008" cy="1920240"/>
          </a:xfrm>
          <a:prstGeom prst="rect">
            <a:avLst/>
          </a:prstGeom>
          <a:solidFill>
            <a:srgbClr val="5BB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199339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Economic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423160"/>
            <a:ext cx="2103120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AAB8C4"/>
                </a:solidFill>
                <a:latin typeface="Aptos"/>
              </a:rPr>
              <a:t>Business valuation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2519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BAA41"/>
                </a:solidFill>
                <a:latin typeface="Aptos"/>
              </a:rPr>
              <a:t>Critical analytical 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45152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F8FA"/>
                </a:solidFill>
                <a:latin typeface="Aptos"/>
              </a:rPr>
              <a:t>The project supports a daily production-impact framework; it does not claim that deferred production can be uniquely attributed to individual failure categories.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10424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AAB8C4"/>
                </a:solidFill>
                <a:latin typeface="Aptos"/>
              </a:rPr>
              <a:t>OFFSHORE PRODUCTION ASSET PERFORMANCE  |  TECHNICAL PROJECT PRESENTATION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2BBFB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8FA"/>
                </a:solidFill>
                <a:latin typeface="Aptos"/>
              </a:rPr>
              <a:t>7. Intervention Engineering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713232" cy="50292"/>
          </a:xfrm>
          <a:prstGeom prst="rect">
            <a:avLst/>
          </a:prstGeom>
          <a:solidFill>
            <a:srgbClr val="2B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AB8C4"/>
                </a:solidFill>
                <a:latin typeface="Aptos"/>
              </a:rPr>
              <a:t>Structured intervention portfolio for operational planning and economic 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418FD6"/>
                </a:solidFill>
                <a:latin typeface="Aptos"/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48256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AB8C4"/>
                </a:solidFill>
                <a:latin typeface="Aptos"/>
              </a:rPr>
              <a:t>interventions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5544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BBFB0"/>
                </a:solidFill>
                <a:latin typeface="Apto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2048256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AB8C4"/>
                </a:solidFill>
                <a:latin typeface="Aptos"/>
              </a:rPr>
              <a:t>intervention 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155448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BAA41"/>
                </a:solidFill>
                <a:latin typeface="Aptos"/>
              </a:rPr>
              <a:t>32,250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2048256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AB8C4"/>
                </a:solidFill>
                <a:latin typeface="Aptos"/>
              </a:rPr>
              <a:t>production rows 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5544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5BB577"/>
                </a:solidFill>
                <a:latin typeface="Aptos"/>
              </a:rPr>
              <a:t>20260928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2048256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AB8C4"/>
                </a:solidFill>
                <a:latin typeface="Aptos"/>
              </a:rPr>
              <a:t>seed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743200"/>
            <a:ext cx="3429000" cy="1143000"/>
          </a:xfrm>
          <a:prstGeom prst="roundRect">
            <a:avLst/>
          </a:prstGeom>
          <a:solidFill>
            <a:srgbClr val="18212B"/>
          </a:solidFill>
          <a:ln>
            <a:solidFill>
              <a:srgbClr val="3A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743200"/>
            <a:ext cx="64008" cy="1143000"/>
          </a:xfrm>
          <a:prstGeom prst="rect">
            <a:avLst/>
          </a:prstGeom>
          <a:solidFill>
            <a:srgbClr val="41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90779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INT01  Well Intervention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37560"/>
            <a:ext cx="301752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AAB8C4"/>
                </a:solidFill>
                <a:latin typeface="Aptos"/>
              </a:rPr>
              <a:t>72 hr | $1.5M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2743200"/>
            <a:ext cx="3429000" cy="1143000"/>
          </a:xfrm>
          <a:prstGeom prst="roundRect">
            <a:avLst/>
          </a:prstGeom>
          <a:solidFill>
            <a:srgbClr val="18212B"/>
          </a:solidFill>
          <a:ln>
            <a:solidFill>
              <a:srgbClr val="3A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2743200"/>
            <a:ext cx="64008" cy="1143000"/>
          </a:xfrm>
          <a:prstGeom prst="rect">
            <a:avLst/>
          </a:prstGeom>
          <a:solidFill>
            <a:srgbClr val="2B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290779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INT02  Workover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337560"/>
            <a:ext cx="301752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AAB8C4"/>
                </a:solidFill>
                <a:latin typeface="Aptos"/>
              </a:rPr>
              <a:t>240 hr | $5.0M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2743200"/>
            <a:ext cx="3429000" cy="1143000"/>
          </a:xfrm>
          <a:prstGeom prst="roundRect">
            <a:avLst/>
          </a:prstGeom>
          <a:solidFill>
            <a:srgbClr val="18212B"/>
          </a:solidFill>
          <a:ln>
            <a:solidFill>
              <a:srgbClr val="3A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79" y="2743200"/>
            <a:ext cx="64008" cy="1143000"/>
          </a:xfrm>
          <a:prstGeom prst="rect">
            <a:avLst/>
          </a:prstGeom>
          <a:solidFill>
            <a:srgbClr val="EB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290779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INT03  Artificial Lift Optimization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337560"/>
            <a:ext cx="301752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AAB8C4"/>
                </a:solidFill>
                <a:latin typeface="Aptos"/>
              </a:rPr>
              <a:t>48 hr | $0.35M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160520"/>
            <a:ext cx="3429000" cy="1143000"/>
          </a:xfrm>
          <a:prstGeom prst="roundRect">
            <a:avLst/>
          </a:prstGeom>
          <a:solidFill>
            <a:srgbClr val="18212B"/>
          </a:solidFill>
          <a:ln>
            <a:solidFill>
              <a:srgbClr val="3A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160520"/>
            <a:ext cx="64008" cy="1143000"/>
          </a:xfrm>
          <a:prstGeom prst="rect">
            <a:avLst/>
          </a:prstGeom>
          <a:solidFill>
            <a:srgbClr val="5BB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32511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INT04  Subsea Repair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754880"/>
            <a:ext cx="301752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AAB8C4"/>
                </a:solidFill>
                <a:latin typeface="Aptos"/>
              </a:rPr>
              <a:t>120 hr | $2.5M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4160520"/>
            <a:ext cx="3429000" cy="1143000"/>
          </a:xfrm>
          <a:prstGeom prst="roundRect">
            <a:avLst/>
          </a:prstGeom>
          <a:solidFill>
            <a:srgbClr val="18212B"/>
          </a:solidFill>
          <a:ln>
            <a:solidFill>
              <a:srgbClr val="3A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34840" y="4160520"/>
            <a:ext cx="64008" cy="1143000"/>
          </a:xfrm>
          <a:prstGeom prst="rect">
            <a:avLst/>
          </a:prstGeom>
          <a:solidFill>
            <a:srgbClr val="41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0" y="432511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INT05  Flowline Remediation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4754880"/>
            <a:ext cx="301752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AAB8C4"/>
                </a:solidFill>
                <a:latin typeface="Aptos"/>
              </a:rPr>
              <a:t>96 hr | $1.8M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83879" y="4160520"/>
            <a:ext cx="3429000" cy="1143000"/>
          </a:xfrm>
          <a:prstGeom prst="roundRect">
            <a:avLst/>
          </a:prstGeom>
          <a:solidFill>
            <a:srgbClr val="18212B"/>
          </a:solidFill>
          <a:ln>
            <a:solidFill>
              <a:srgbClr val="3A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83879" y="4160520"/>
            <a:ext cx="64008" cy="1143000"/>
          </a:xfrm>
          <a:prstGeom prst="rect">
            <a:avLst/>
          </a:prstGeom>
          <a:solidFill>
            <a:srgbClr val="2B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432511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INT06  Process Debottleneck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754880"/>
            <a:ext cx="301752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AAB8C4"/>
                </a:solidFill>
                <a:latin typeface="Aptos"/>
              </a:rPr>
              <a:t>168 hr | $3.0M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0528"/>
            <a:ext cx="10424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AAB8C4"/>
                </a:solidFill>
                <a:latin typeface="Aptos"/>
              </a:rPr>
              <a:t>OFFSHORE PRODUCTION ASSET PERFORMANCE  |  TECHNICAL PROJECT PRESENTATION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2BBFB0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8FA"/>
                </a:solidFill>
                <a:latin typeface="Aptos"/>
              </a:rPr>
              <a:t>8. Power BI Semantic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713232" cy="50292"/>
          </a:xfrm>
          <a:prstGeom prst="rect">
            <a:avLst/>
          </a:prstGeom>
          <a:solidFill>
            <a:srgbClr val="2B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AB8C4"/>
                </a:solidFill>
                <a:latin typeface="Aptos"/>
              </a:rPr>
              <a:t>Measures are aligned to the model grain and designed to avoid double counting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474720" cy="1572768"/>
          </a:xfrm>
          <a:prstGeom prst="roundRect">
            <a:avLst/>
          </a:prstGeom>
          <a:solidFill>
            <a:srgbClr val="18212B"/>
          </a:solidFill>
          <a:ln>
            <a:solidFill>
              <a:srgbClr val="3A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64008" cy="1572768"/>
          </a:xfrm>
          <a:prstGeom prst="rect">
            <a:avLst/>
          </a:prstGeom>
          <a:solidFill>
            <a:srgbClr val="2B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Actual Oil (bbl)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306323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70" b="0">
                <a:solidFill>
                  <a:srgbClr val="AAB8C4"/>
                </a:solidFill>
                <a:latin typeface="Aptos"/>
              </a:rPr>
              <a:t>Core production outcome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00200"/>
            <a:ext cx="3474720" cy="1572768"/>
          </a:xfrm>
          <a:prstGeom prst="roundRect">
            <a:avLst/>
          </a:prstGeom>
          <a:solidFill>
            <a:srgbClr val="18212B"/>
          </a:solidFill>
          <a:ln>
            <a:solidFill>
              <a:srgbClr val="3A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600200"/>
            <a:ext cx="64008" cy="1572768"/>
          </a:xfrm>
          <a:prstGeom prst="rect">
            <a:avLst/>
          </a:prstGeom>
          <a:solidFill>
            <a:srgbClr val="41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76479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Potential Oil (bbl)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94560"/>
            <a:ext cx="306323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70" b="0">
                <a:solidFill>
                  <a:srgbClr val="AAB8C4"/>
                </a:solidFill>
                <a:latin typeface="Aptos"/>
              </a:rPr>
              <a:t>Available / theoretical baseline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600200"/>
            <a:ext cx="3474720" cy="1572768"/>
          </a:xfrm>
          <a:prstGeom prst="roundRect">
            <a:avLst/>
          </a:prstGeom>
          <a:solidFill>
            <a:srgbClr val="18212B"/>
          </a:solidFill>
          <a:ln>
            <a:solidFill>
              <a:srgbClr val="3A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600200"/>
            <a:ext cx="64008" cy="1572768"/>
          </a:xfrm>
          <a:prstGeom prst="rect">
            <a:avLst/>
          </a:prstGeom>
          <a:solidFill>
            <a:srgbClr val="5BB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76479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Production Availability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194560"/>
            <a:ext cx="306323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70" b="0">
                <a:solidFill>
                  <a:srgbClr val="AAB8C4"/>
                </a:solidFill>
                <a:latin typeface="Aptos"/>
              </a:rPr>
              <a:t>Actual ÷ Potential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66160"/>
            <a:ext cx="3474720" cy="1572768"/>
          </a:xfrm>
          <a:prstGeom prst="roundRect">
            <a:avLst/>
          </a:prstGeom>
          <a:solidFill>
            <a:srgbClr val="18212B"/>
          </a:solidFill>
          <a:ln>
            <a:solidFill>
              <a:srgbClr val="3A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64008" cy="1572768"/>
          </a:xfrm>
          <a:prstGeom prst="rect">
            <a:avLst/>
          </a:prstGeom>
          <a:solidFill>
            <a:srgbClr val="EB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73075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Average Availability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60520"/>
            <a:ext cx="306323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70" b="0">
                <a:solidFill>
                  <a:srgbClr val="AAB8C4"/>
                </a:solidFill>
                <a:latin typeface="Aptos"/>
              </a:rPr>
              <a:t>Date-level average of availability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566160"/>
            <a:ext cx="3474720" cy="1572768"/>
          </a:xfrm>
          <a:prstGeom prst="roundRect">
            <a:avLst/>
          </a:prstGeom>
          <a:solidFill>
            <a:srgbClr val="18212B"/>
          </a:solidFill>
          <a:ln>
            <a:solidFill>
              <a:srgbClr val="3A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3566160"/>
            <a:ext cx="64008" cy="1572768"/>
          </a:xfrm>
          <a:prstGeom prst="rect">
            <a:avLst/>
          </a:prstGeom>
          <a:solidFill>
            <a:srgbClr val="2B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73075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Downtime Hours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160520"/>
            <a:ext cx="306323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70" b="0">
                <a:solidFill>
                  <a:srgbClr val="AAB8C4"/>
                </a:solidFill>
                <a:latin typeface="Aptos"/>
              </a:rPr>
              <a:t>Aggregated downtime measure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566160"/>
            <a:ext cx="3474720" cy="1572768"/>
          </a:xfrm>
          <a:prstGeom prst="roundRect">
            <a:avLst/>
          </a:prstGeom>
          <a:solidFill>
            <a:srgbClr val="18212B"/>
          </a:solidFill>
          <a:ln>
            <a:solidFill>
              <a:srgbClr val="3A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566160"/>
            <a:ext cx="64008" cy="1572768"/>
          </a:xfrm>
          <a:prstGeom prst="rect">
            <a:avLst/>
          </a:prstGeom>
          <a:solidFill>
            <a:srgbClr val="41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373075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Production 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160520"/>
            <a:ext cx="306323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70" b="0">
                <a:solidFill>
                  <a:srgbClr val="AAB8C4"/>
                </a:solidFill>
                <a:latin typeface="Aptos"/>
              </a:rPr>
              <a:t>Daily impact bridge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5778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BBFB0"/>
                </a:solidFill>
                <a:latin typeface="Aptos"/>
              </a:rPr>
              <a:t>Semantic design rule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5559552"/>
            <a:ext cx="8595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A"/>
                </a:solidFill>
                <a:latin typeface="Aptos"/>
              </a:rPr>
              <a:t>Keep operational facts, modeled impacts, and management KPIs conceptually distinct.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10424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AAB8C4"/>
                </a:solidFill>
                <a:latin typeface="Aptos"/>
              </a:rPr>
              <a:t>OFFSHORE PRODUCTION ASSET PERFORMANCE  |  TECHNICAL PROJECT PRESENTATION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2BBFB0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8FA"/>
                </a:solidFill>
                <a:latin typeface="Aptos"/>
              </a:rPr>
              <a:t>9. Validation &amp; QA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713232" cy="50292"/>
          </a:xfrm>
          <a:prstGeom prst="rect">
            <a:avLst/>
          </a:prstGeom>
          <a:solidFill>
            <a:srgbClr val="2B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AB8C4"/>
                </a:solidFill>
                <a:latin typeface="Aptos"/>
              </a:rPr>
              <a:t>Reconciliation is the control system for the analytical product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10789920" cy="621792"/>
          </a:xfrm>
          <a:prstGeom prst="roundRect">
            <a:avLst/>
          </a:prstGeom>
          <a:solidFill>
            <a:srgbClr val="18212B"/>
          </a:solidFill>
          <a:ln>
            <a:solidFill>
              <a:srgbClr val="3A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0992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418FD6"/>
                </a:solidFill>
                <a:latin typeface="Aptos"/>
              </a:rPr>
              <a:t>Production 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709928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AAB8C4"/>
                </a:solidFill>
                <a:latin typeface="Aptos"/>
              </a:rPr>
              <a:t>Rows • volumes • well summaries • field summaries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77440"/>
            <a:ext cx="10789920" cy="621792"/>
          </a:xfrm>
          <a:prstGeom prst="roundRect">
            <a:avLst/>
          </a:prstGeom>
          <a:solidFill>
            <a:srgbClr val="18212B"/>
          </a:solidFill>
          <a:ln>
            <a:solidFill>
              <a:srgbClr val="3A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328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BBFB0"/>
                </a:solidFill>
                <a:latin typeface="Aptos"/>
              </a:rPr>
              <a:t>Downtime QA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532888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AAB8C4"/>
                </a:solidFill>
                <a:latin typeface="Aptos"/>
              </a:rPr>
              <a:t>Event counts • durations • affected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200400"/>
            <a:ext cx="10789920" cy="621792"/>
          </a:xfrm>
          <a:prstGeom prst="roundRect">
            <a:avLst/>
          </a:prstGeom>
          <a:solidFill>
            <a:srgbClr val="18212B"/>
          </a:solidFill>
          <a:ln>
            <a:solidFill>
              <a:srgbClr val="3A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5584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BAA41"/>
                </a:solidFill>
                <a:latin typeface="Aptos"/>
              </a:rPr>
              <a:t>Intervention QA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355848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AAB8C4"/>
                </a:solidFill>
                <a:latin typeface="Aptos"/>
              </a:rPr>
              <a:t>Counts • types • duration/cost configuration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023360"/>
            <a:ext cx="10789920" cy="621792"/>
          </a:xfrm>
          <a:prstGeom prst="roundRect">
            <a:avLst/>
          </a:prstGeom>
          <a:solidFill>
            <a:srgbClr val="18212B"/>
          </a:solidFill>
          <a:ln>
            <a:solidFill>
              <a:srgbClr val="3A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17880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5BB577"/>
                </a:solidFill>
                <a:latin typeface="Aptos"/>
              </a:rPr>
              <a:t>SQL / Cross-layer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4178808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AAB8C4"/>
                </a:solidFill>
                <a:latin typeface="Aptos"/>
              </a:rPr>
              <a:t>Independent aggregation and reconciliation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846320"/>
            <a:ext cx="10789920" cy="621792"/>
          </a:xfrm>
          <a:prstGeom prst="roundRect">
            <a:avLst/>
          </a:prstGeom>
          <a:solidFill>
            <a:srgbClr val="18212B"/>
          </a:solidFill>
          <a:ln>
            <a:solidFill>
              <a:srgbClr val="3A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0176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418FD6"/>
                </a:solidFill>
                <a:latin typeface="Aptos"/>
              </a:rPr>
              <a:t>Power BI QA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5001768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AAB8C4"/>
                </a:solidFill>
                <a:latin typeface="Aptos"/>
              </a:rPr>
              <a:t>DAX semantics • filters • model grain • visuals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1500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BBFB0"/>
                </a:solidFill>
                <a:latin typeface="Aptos"/>
              </a:rPr>
              <a:t>QA outcome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5715000"/>
            <a:ext cx="9052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A"/>
                </a:solidFill>
                <a:latin typeface="Aptos"/>
              </a:rPr>
              <a:t>The final semantic layer is built on reconciled data rather than visual plausibility alone.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10424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AAB8C4"/>
                </a:solidFill>
                <a:latin typeface="Aptos"/>
              </a:rPr>
              <a:t>OFFSHORE PRODUCTION ASSET PERFORMANCE  |  TECHNICAL PROJECT PRESENTATION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2BBFB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8FA"/>
                </a:solidFill>
                <a:latin typeface="Aptos"/>
              </a:rPr>
              <a:t>10. Technical Conclusions &amp; Portfolio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713232" cy="50292"/>
          </a:xfrm>
          <a:prstGeom prst="rect">
            <a:avLst/>
          </a:prstGeom>
          <a:solidFill>
            <a:srgbClr val="2B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AB8C4"/>
                </a:solidFill>
                <a:latin typeface="Aptos"/>
              </a:rPr>
              <a:t>A complete engineering-to-analytics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429000" cy="1965960"/>
          </a:xfrm>
          <a:prstGeom prst="roundRect">
            <a:avLst/>
          </a:prstGeom>
          <a:solidFill>
            <a:srgbClr val="18212B"/>
          </a:solidFill>
          <a:ln>
            <a:solidFill>
              <a:srgbClr val="3A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64008" cy="1965960"/>
          </a:xfrm>
          <a:prstGeom prst="rect">
            <a:avLst/>
          </a:prstGeom>
          <a:solidFill>
            <a:srgbClr val="41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Engineering data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3017520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8C4"/>
                </a:solidFill>
                <a:latin typeface="Aptos"/>
              </a:rPr>
              <a:t>Operational grains are explicit, deterministic, and reproducible across production, downtime, impact, and intervention domains.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429000" cy="1965960"/>
          </a:xfrm>
          <a:prstGeom prst="roundRect">
            <a:avLst/>
          </a:prstGeom>
          <a:solidFill>
            <a:srgbClr val="18212B"/>
          </a:solidFill>
          <a:ln>
            <a:solidFill>
              <a:srgbClr val="3A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554480"/>
            <a:ext cx="64008" cy="1965960"/>
          </a:xfrm>
          <a:prstGeom prst="rect">
            <a:avLst/>
          </a:prstGeom>
          <a:solidFill>
            <a:srgbClr val="2B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71907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Analytical discipline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48840"/>
            <a:ext cx="3017520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8C4"/>
                </a:solidFill>
                <a:latin typeface="Aptos"/>
              </a:rPr>
              <a:t>The project distinguishes measured outcomes from modeled constructs and avoids unsupported causal claims.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554480"/>
            <a:ext cx="3429000" cy="1965960"/>
          </a:xfrm>
          <a:prstGeom prst="roundRect">
            <a:avLst/>
          </a:prstGeom>
          <a:solidFill>
            <a:srgbClr val="18212B"/>
          </a:solidFill>
          <a:ln>
            <a:solidFill>
              <a:srgbClr val="3A4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554480"/>
            <a:ext cx="64008" cy="1965960"/>
          </a:xfrm>
          <a:prstGeom prst="rect">
            <a:avLst/>
          </a:prstGeom>
          <a:solidFill>
            <a:srgbClr val="EBA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71907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BI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148840"/>
            <a:ext cx="3017520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AB8C4"/>
                </a:solidFill>
                <a:latin typeface="Aptos"/>
              </a:rPr>
              <a:t>The Power BI layer converts validated facts into reusable semantic measures and decision-oriented views.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6908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BB577"/>
                </a:solidFill>
                <a:latin typeface="Aptos"/>
              </a:rPr>
              <a:t>Portfolio positioning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8056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5F8FA"/>
                </a:solidFill>
                <a:latin typeface="Aptos"/>
              </a:rPr>
              <a:t>This project demonstrates more than dashboarding: it shows how an offshore operational analytics product can be engineered, validated, governed, and communicated end-to-end.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321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BBFB0"/>
                </a:solidFill>
                <a:latin typeface="Aptos"/>
              </a:rPr>
              <a:t>Python  →  Data  →  SQL  →  QA  →  Power BI  →  Executive Decision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10424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AAB8C4"/>
                </a:solidFill>
                <a:latin typeface="Aptos"/>
              </a:rPr>
              <a:t>OFFSHORE PRODUCTION ASSET PERFORMANCE  |  TECHNICAL PROJECT 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2BBFB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Offshore Production Asset Performance — Technical Project Presentation</dc:title>
  <dc:subject>Technical architecture, data engineering, reliability modeling, interventions, Power BI semantic layer, and QA</dc:subject>
  <dc:creator>Aníbal Ceballos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